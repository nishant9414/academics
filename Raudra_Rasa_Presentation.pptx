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8" r:id="rId19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Dhurandhar+2025+official+trailer" TargetMode="External"/><Relationship Id="rId3" Type="http://schemas.openxmlformats.org/officeDocument/2006/relationships/hyperlink" Target="https://www.youtube.com/results?search_query=Bajrangi+Bhaijaan+border+climax+scene" TargetMode="External"/><Relationship Id="rId4" Type="http://schemas.openxmlformats.org/officeDocument/2006/relationships/hyperlink" Target="https://www.youtube.com/results?search_query=Kabir+Singh+breakdown+scene" TargetMode="External"/><Relationship Id="rId5" Type="http://schemas.openxmlformats.org/officeDocument/2006/relationships/hyperlink" Target="https://www.youtube.com/results?search_query=Dangal+training+scene+Aamir+Khan" TargetMode="External"/><Relationship Id="rId6" Type="http://schemas.openxmlformats.org/officeDocument/2006/relationships/hyperlink" Target="https://www.youtube.com/results?search_query=RRR+interval+fight+scene" TargetMode="External"/><Relationship Id="rId7" Type="http://schemas.openxmlformats.org/officeDocument/2006/relationships/hyperlink" Target="https://www.youtube.com/results?search_query=Raudra+Rasa+Natyashastra+explaine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B2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B2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640080"/>
            <a:ext cx="3657600" cy="5303520"/>
          </a:xfrm>
          <a:prstGeom prst="rect">
            <a:avLst/>
          </a:prstGeom>
          <a:solidFill>
            <a:srgbClr val="4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19"/>
            <a:ext cx="34747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9900"/>
                </a:solidFill>
              </a:rPr>
              <a:t>📷 Lord Shiva / Rudra (fierce form)</a:t>
            </a:r>
          </a:p>
          <a:p>
            <a:pPr algn="ctr"/>
            <a:r>
              <a:rPr sz="900">
                <a:solidFill>
                  <a:srgbClr val="CCCCCC"/>
                </a:solidFill>
              </a:rPr>
              <a:t>Search: 'Nataraja Shiva painting' on Wikimedia Commons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0" y="1371600"/>
            <a:ext cx="7589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4400" b="1" i="0">
                <a:solidFill>
                  <a:srgbClr val="B20000"/>
                </a:solidFill>
              </a:rPr>
              <a:t>RAUDRA RASA</a:t>
            </a:r>
          </a:p>
          <a:p>
            <a:pPr algn="l">
              <a:spcBef>
                <a:spcPts val="400"/>
              </a:spcBef>
            </a:pPr>
            <a:r>
              <a:rPr sz="2600" b="0" i="1">
                <a:solidFill>
                  <a:srgbClr val="FF9900"/>
                </a:solidFill>
              </a:rPr>
              <a:t>The Rasa of Anger &amp; Fury</a:t>
            </a:r>
          </a:p>
          <a:p>
            <a:pPr algn="l">
              <a:spcBef>
                <a:spcPts val="0"/>
              </a:spcBef>
            </a:pPr>
            <a:r>
              <a:rPr sz="1000" b="0" i="0">
                <a:solidFill>
                  <a:srgbClr val="FFFFFF"/>
                </a:solidFill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800" b="0" i="0">
                <a:solidFill>
                  <a:srgbClr val="FFFFFF"/>
                </a:solidFill>
              </a:rPr>
              <a:t>In Indian Aesthetics &amp; Bollywood Cinema</a:t>
            </a:r>
          </a:p>
          <a:p>
            <a:pPr algn="l">
              <a:spcBef>
                <a:spcPts val="600"/>
              </a:spcBef>
            </a:pPr>
            <a:r>
              <a:rPr sz="1500" b="0" i="1">
                <a:solidFill>
                  <a:srgbClr val="DDDDDD"/>
                </a:solidFill>
              </a:rPr>
              <a:t>with special focus on Dhurandhar (2025)</a:t>
            </a:r>
          </a:p>
          <a:p>
            <a:pPr algn="l">
              <a:spcBef>
                <a:spcPts val="0"/>
              </a:spcBef>
            </a:pPr>
            <a:r>
              <a:rPr sz="800" b="0" i="0">
                <a:solidFill>
                  <a:srgbClr val="FFFFFF"/>
                </a:solidFill>
              </a:rPr>
              <a:t/>
            </a:r>
          </a:p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AAAAAA"/>
                </a:solidFill>
              </a:rPr>
              <a:t>Based on Bharata's Nāṭyaśāstra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B2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200" b="1" i="0">
                <a:solidFill>
                  <a:srgbClr val="FFFFFF"/>
                </a:solidFill>
              </a:rPr>
              <a:t>WHAT IS RAUDRA RASA?  (The Feeling of Anger)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594360"/>
            <a:ext cx="11274552" cy="36576"/>
          </a:xfrm>
          <a:prstGeom prst="rect">
            <a:avLst/>
          </a:prstGeom>
          <a:solidFill>
            <a:srgbClr val="B2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0"/>
            <a:ext cx="68580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FF9900"/>
                </a:solidFill>
              </a:rPr>
              <a:t>Rasa = Feeling / Emotion</a:t>
            </a:r>
          </a:p>
          <a:p>
            <a:r>
              <a:rPr sz="1500" b="1">
                <a:solidFill>
                  <a:srgbClr val="FF9900"/>
                </a:solidFill>
              </a:rPr>
              <a:t>Raudra = Fierce, Furious, Stormy</a:t>
            </a:r>
          </a:p>
          <a:p>
            <a:r>
              <a:rPr sz="1500" b="0">
                <a:solidFill>
                  <a:srgbClr val="FFFFFF"/>
                </a:solidFill>
              </a:rPr>
              <a:t/>
            </a:r>
          </a:p>
          <a:p>
            <a:r>
              <a:rPr sz="1500" b="1">
                <a:solidFill>
                  <a:srgbClr val="FF9900"/>
                </a:solidFill>
              </a:rPr>
              <a:t>📌 Core Emotion (Sthayi Bhava): KRODHA (Anger)</a:t>
            </a:r>
          </a:p>
          <a:p>
            <a:r>
              <a:rPr sz="1500" b="0">
                <a:solidFill>
                  <a:srgbClr val="FFFFFF"/>
                </a:solidFill>
              </a:rPr>
              <a:t/>
            </a:r>
          </a:p>
          <a:p>
            <a:r>
              <a:rPr sz="1500" b="1">
                <a:solidFill>
                  <a:srgbClr val="FF9900"/>
                </a:solidFill>
              </a:rPr>
              <a:t>What causes it?</a:t>
            </a:r>
          </a:p>
          <a:p>
            <a:r>
              <a:rPr sz="1500" b="0">
                <a:solidFill>
                  <a:srgbClr val="FFFFFF"/>
                </a:solidFill>
              </a:rPr>
              <a:t>  •  Being insulted or humiliated</a:t>
            </a:r>
          </a:p>
          <a:p>
            <a:r>
              <a:rPr sz="1500" b="0">
                <a:solidFill>
                  <a:srgbClr val="FFFFFF"/>
                </a:solidFill>
              </a:rPr>
              <a:t>  •  Seeing injustice or cruelty</a:t>
            </a:r>
          </a:p>
          <a:p>
            <a:r>
              <a:rPr sz="1500" b="0">
                <a:solidFill>
                  <a:srgbClr val="FFFFFF"/>
                </a:solidFill>
              </a:rPr>
              <a:t>  •  Betrayal by someone trusted</a:t>
            </a:r>
          </a:p>
          <a:p>
            <a:r>
              <a:rPr sz="1500" b="0">
                <a:solidFill>
                  <a:srgbClr val="FFFFFF"/>
                </a:solidFill>
              </a:rPr>
              <a:t>  •  Oppression of the weak</a:t>
            </a:r>
          </a:p>
          <a:p>
            <a:r>
              <a:rPr sz="1500" b="0">
                <a:solidFill>
                  <a:srgbClr val="FFFFFF"/>
                </a:solidFill>
              </a:rPr>
              <a:t/>
            </a:r>
          </a:p>
          <a:p>
            <a:r>
              <a:rPr sz="1500" b="1">
                <a:solidFill>
                  <a:srgbClr val="FF9900"/>
                </a:solidFill>
              </a:rPr>
              <a:t>How it looks (Anubhava):</a:t>
            </a:r>
          </a:p>
          <a:p>
            <a:r>
              <a:rPr sz="1500" b="0">
                <a:solidFill>
                  <a:srgbClr val="FFFFFF"/>
                </a:solidFill>
              </a:rPr>
              <a:t>  •  Red / bloodshot eyes</a:t>
            </a:r>
          </a:p>
          <a:p>
            <a:r>
              <a:rPr sz="1500" b="0">
                <a:solidFill>
                  <a:srgbClr val="FFFFFF"/>
                </a:solidFill>
              </a:rPr>
              <a:t>  •  Loud, harsh voice</a:t>
            </a:r>
          </a:p>
          <a:p>
            <a:r>
              <a:rPr sz="1500" b="0">
                <a:solidFill>
                  <a:srgbClr val="FFFFFF"/>
                </a:solidFill>
              </a:rPr>
              <a:t>  •  Shaking hands and body</a:t>
            </a:r>
          </a:p>
          <a:p>
            <a:r>
              <a:rPr sz="1500" b="0">
                <a:solidFill>
                  <a:srgbClr val="FFFFFF"/>
                </a:solidFill>
              </a:rPr>
              <a:t>  •  Aggressive posture</a:t>
            </a:r>
          </a:p>
          <a:p>
            <a:r>
              <a:rPr sz="1500" b="0">
                <a:solidFill>
                  <a:srgbClr val="FFFFFF"/>
                </a:solidFill>
              </a:rPr>
              <a:t/>
            </a:r>
          </a:p>
          <a:p>
            <a:r>
              <a:rPr sz="1500" b="1">
                <a:solidFill>
                  <a:srgbClr val="FF9900"/>
                </a:solidFill>
              </a:rPr>
              <a:t>🔥 It is NOT just violence —</a:t>
            </a:r>
          </a:p>
          <a:p>
            <a:r>
              <a:rPr sz="1500" b="0">
                <a:solidFill>
                  <a:srgbClr val="FFFFFF"/>
                </a:solidFill>
              </a:rPr>
              <a:t>    it is RIGHTEOUS, MORAL anger.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79" y="731520"/>
            <a:ext cx="4297680" cy="2926080"/>
          </a:xfrm>
          <a:prstGeom prst="rect">
            <a:avLst/>
          </a:prstGeom>
          <a:solidFill>
            <a:srgbClr val="4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19" y="82296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9900"/>
                </a:solidFill>
              </a:rPr>
              <a:t>📷 Angry warrior / fierce deity painting</a:t>
            </a:r>
          </a:p>
          <a:p>
            <a:pPr algn="ctr"/>
            <a:r>
              <a:rPr sz="900">
                <a:solidFill>
                  <a:srgbClr val="CCCCCC"/>
                </a:solidFill>
              </a:rPr>
              <a:t>Wikimedia: 'Mahishasura Mardini' or 'Durga battle'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79" y="3840480"/>
            <a:ext cx="4297680" cy="2377440"/>
          </a:xfrm>
          <a:prstGeom prst="rect">
            <a:avLst/>
          </a:prstGeom>
          <a:solidFill>
            <a:srgbClr val="4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19" y="3931920"/>
            <a:ext cx="4114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9900"/>
                </a:solidFill>
              </a:rPr>
              <a:t>📷 Abhinavagupta or Natya Shastra manuscript page</a:t>
            </a:r>
          </a:p>
          <a:p>
            <a:pPr algn="ctr"/>
            <a:r>
              <a:rPr sz="900">
                <a:solidFill>
                  <a:srgbClr val="CCCCCC"/>
                </a:solidFill>
              </a:rPr>
              <a:t>Search Wikimedia Commons: 'Natyashastra manuscript'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B2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200" b="1" i="0">
                <a:solidFill>
                  <a:srgbClr val="FFFFFF"/>
                </a:solidFill>
              </a:rPr>
              <a:t>WHERE DOES IT COME FROM?  — Classical Roots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594360"/>
            <a:ext cx="11274552" cy="36576"/>
          </a:xfrm>
          <a:prstGeom prst="rect">
            <a:avLst/>
          </a:prstGeom>
          <a:solidFill>
            <a:srgbClr val="B2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731520"/>
            <a:ext cx="4114800" cy="5303520"/>
          </a:xfrm>
          <a:prstGeom prst="rect">
            <a:avLst/>
          </a:prstGeom>
          <a:solidFill>
            <a:srgbClr val="4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822960"/>
            <a:ext cx="3931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9900"/>
                </a:solidFill>
              </a:rPr>
              <a:t>📷 Bharata Muni illustration</a:t>
            </a:r>
          </a:p>
          <a:p>
            <a:pPr algn="ctr"/>
            <a:r>
              <a:rPr sz="900">
                <a:solidFill>
                  <a:srgbClr val="CCCCCC"/>
                </a:solidFill>
              </a:rPr>
              <a:t>Search: 'Bharata Muni Natyashastra painting'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731520"/>
            <a:ext cx="71323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9900"/>
                </a:solidFill>
              </a:rPr>
              <a:t>📖  Bharata's Nāṭyaśāstra (2nd century BCE)</a:t>
            </a:r>
          </a:p>
          <a:p>
            <a:r>
              <a:rPr sz="1400" b="0">
                <a:solidFill>
                  <a:srgbClr val="FFFFFF"/>
                </a:solidFill>
              </a:rPr>
              <a:t/>
            </a:r>
          </a:p>
          <a:p>
            <a:r>
              <a:rPr sz="1400" b="0">
                <a:solidFill>
                  <a:srgbClr val="FFFFFF"/>
                </a:solidFill>
              </a:rPr>
              <a:t>The oldest book on Indian drama &amp; aesthetics.</a:t>
            </a:r>
          </a:p>
          <a:p>
            <a:r>
              <a:rPr sz="1400" b="0">
                <a:solidFill>
                  <a:srgbClr val="FFFFFF"/>
                </a:solidFill>
              </a:rPr>
              <a:t>It defines 9 Rasas (emotions) for art.</a:t>
            </a:r>
          </a:p>
          <a:p>
            <a:r>
              <a:rPr sz="1400" b="0">
                <a:solidFill>
                  <a:srgbClr val="FFFFFF"/>
                </a:solidFill>
              </a:rPr>
              <a:t>Raudra is the 4th Rasa.</a:t>
            </a:r>
          </a:p>
          <a:p>
            <a:r>
              <a:rPr sz="1400" b="0">
                <a:solidFill>
                  <a:srgbClr val="FFFFFF"/>
                </a:solidFill>
              </a:rPr>
              <a:t/>
            </a:r>
          </a:p>
          <a:p>
            <a:r>
              <a:rPr sz="1400" b="1">
                <a:solidFill>
                  <a:srgbClr val="FF9900"/>
                </a:solidFill>
              </a:rPr>
              <a:t>🕉️  Its deity is RUDRA (fierce form of Shiva)</a:t>
            </a:r>
          </a:p>
          <a:p>
            <a:r>
              <a:rPr sz="1400" b="1">
                <a:solidFill>
                  <a:srgbClr val="FF9900"/>
                </a:solidFill>
              </a:rPr>
              <a:t>Its colour is RED (रक्त वर्ण)</a:t>
            </a:r>
          </a:p>
          <a:p>
            <a:r>
              <a:rPr sz="1400" b="0">
                <a:solidFill>
                  <a:srgbClr val="FFFFFF"/>
                </a:solidFill>
              </a:rPr>
              <a:t/>
            </a:r>
          </a:p>
          <a:p>
            <a:r>
              <a:rPr sz="1400" b="1">
                <a:solidFill>
                  <a:srgbClr val="FF9900"/>
                </a:solidFill>
              </a:rPr>
              <a:t>Famous examples in classical texts:</a:t>
            </a:r>
          </a:p>
          <a:p>
            <a:r>
              <a:rPr sz="1400" b="0">
                <a:solidFill>
                  <a:srgbClr val="FFFFFF"/>
                </a:solidFill>
              </a:rPr>
              <a:t>  •  Duryodhana's rage in Mahabharata</a:t>
            </a:r>
          </a:p>
          <a:p>
            <a:r>
              <a:rPr sz="1400" b="0">
                <a:solidFill>
                  <a:srgbClr val="FFFFFF"/>
                </a:solidFill>
              </a:rPr>
              <a:t>  •  Parashurama's fury against Kshatriyas</a:t>
            </a:r>
          </a:p>
          <a:p>
            <a:r>
              <a:rPr sz="1400" b="0">
                <a:solidFill>
                  <a:srgbClr val="FFFFFF"/>
                </a:solidFill>
              </a:rPr>
              <a:t>  •  Kali destroying demons in Devi Mahatmya</a:t>
            </a:r>
          </a:p>
          <a:p>
            <a:r>
              <a:rPr sz="1400" b="0">
                <a:solidFill>
                  <a:srgbClr val="FFFFFF"/>
                </a:solidFill>
              </a:rPr>
              <a:t/>
            </a:r>
          </a:p>
          <a:p>
            <a:r>
              <a:rPr sz="1400" b="1">
                <a:solidFill>
                  <a:srgbClr val="FF9900"/>
                </a:solidFill>
              </a:rPr>
              <a:t>Key point:</a:t>
            </a:r>
          </a:p>
          <a:p>
            <a:r>
              <a:rPr sz="1400" b="0">
                <a:solidFill>
                  <a:srgbClr val="FFFFFF"/>
                </a:solidFill>
              </a:rPr>
              <a:t>Raudra anger has a CAUSE and a PURPOSE.</a:t>
            </a:r>
          </a:p>
          <a:p>
            <a:r>
              <a:rPr sz="1400" b="0">
                <a:solidFill>
                  <a:srgbClr val="FFFFFF"/>
                </a:solidFill>
              </a:rPr>
              <a:t>Pure cruelty is NOT Raudra — it is Bībhatsa (disgust).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B2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100" b="1" i="0">
                <a:solidFill>
                  <a:srgbClr val="FFFFFF"/>
                </a:solidFill>
              </a:rPr>
              <a:t>THE LANGUAGE OF RAUDRA  — How anger sounds in poetry &amp; dialogue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594360"/>
            <a:ext cx="11274552" cy="36576"/>
          </a:xfrm>
          <a:prstGeom prst="rect">
            <a:avLst/>
          </a:prstGeom>
          <a:solidFill>
            <a:srgbClr val="B2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685800"/>
            <a:ext cx="5577840" cy="411480"/>
          </a:xfrm>
          <a:prstGeom prst="rect">
            <a:avLst/>
          </a:prstGeom>
          <a:solidFill>
            <a:srgbClr val="B2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704088"/>
            <a:ext cx="53949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600" b="1" i="0">
                <a:solidFill>
                  <a:srgbClr val="FFFFFF"/>
                </a:solidFill>
              </a:rPr>
              <a:t>In Classical Poetry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188720"/>
            <a:ext cx="5577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FFFFFF"/>
                </a:solidFill>
              </a:rPr>
              <a:t>▸  Sharp, hard-sounding words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▸  Short punchy sentences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▸  Oaths and vows ('I will not rest until…')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▸  Fire / storm / blood imagery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▸  Commands: 'Stop!', 'Look at me!', 'Today ends here!'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685800"/>
            <a:ext cx="5577840" cy="411480"/>
          </a:xfrm>
          <a:prstGeom prst="rect">
            <a:avLst/>
          </a:prstGeom>
          <a:solidFill>
            <a:srgbClr val="B2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704088"/>
            <a:ext cx="53949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600" b="1" i="0">
                <a:solidFill>
                  <a:srgbClr val="FFFFFF"/>
                </a:solidFill>
              </a:rPr>
              <a:t>In Bollywood Dialogues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188720"/>
            <a:ext cx="5577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FFFFFF"/>
                </a:solidFill>
              </a:rPr>
              <a:t>▸  'Aaj ke baad tera naam lena bandh kar!'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▸  'Mere aur tere beech yeh khatam nahi hoga!'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▸  'Tujhe pata nahi main kya kar sakta hoon!'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▸  Silence before explosion = most powerful Raudra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▸  Voice drops LOW before the biggest 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5394960"/>
            <a:ext cx="11430000" cy="1188720"/>
          </a:xfrm>
          <a:prstGeom prst="rect">
            <a:avLst/>
          </a:prstGeom>
          <a:solidFill>
            <a:srgbClr val="4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54864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9900"/>
                </a:solidFill>
              </a:rPr>
              <a:t>📷 📜  Famous Raudra line: 'Rakte hi Rakte hai har taraf…' — suggest adding a still from an intense Bollywood courtroom/confrontation scene</a:t>
            </a:r>
          </a:p>
          <a:p>
            <a:pPr algn="ctr"/>
            <a:r>
              <a:rPr sz="900">
                <a:solidFill>
                  <a:srgbClr val="CCCCCC"/>
                </a:solidFill>
              </a:rPr>
              <a:t>Use official movie press-kit image or screengrab (with credit)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B2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200" b="1" i="0">
                <a:solidFill>
                  <a:srgbClr val="FFFFFF"/>
                </a:solidFill>
              </a:rPr>
              <a:t>HOW RAUDRA LOOKS ON SCREEN  — Visual Language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594360"/>
            <a:ext cx="11274552" cy="36576"/>
          </a:xfrm>
          <a:prstGeom prst="rect">
            <a:avLst/>
          </a:prstGeom>
          <a:solidFill>
            <a:srgbClr val="B2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777240"/>
            <a:ext cx="3749039" cy="2377440"/>
          </a:xfrm>
          <a:prstGeom prst="rect">
            <a:avLst/>
          </a:prstGeom>
          <a:solidFill>
            <a:srgbClr val="33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868680"/>
            <a:ext cx="3566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FF9900"/>
                </a:solidFill>
              </a:rPr>
              <a:t>🎥  Close-up on EYES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371600"/>
            <a:ext cx="356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FFFFFF"/>
                </a:solidFill>
              </a:rPr>
              <a:t>Camera slowly zooms into the hero's eyes just before explosion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1959" y="777240"/>
            <a:ext cx="3749039" cy="2377440"/>
          </a:xfrm>
          <a:prstGeom prst="rect">
            <a:avLst/>
          </a:prstGeom>
          <a:solidFill>
            <a:srgbClr val="33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399" y="868680"/>
            <a:ext cx="3566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FF9900"/>
                </a:solidFill>
              </a:rPr>
              <a:t>🔴  RED Lighting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399" y="1371600"/>
            <a:ext cx="356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FFFFFF"/>
                </a:solidFill>
              </a:rPr>
              <a:t>Red/orange tones = danger, anger, blood — used in action climax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777240"/>
            <a:ext cx="3749039" cy="2377440"/>
          </a:xfrm>
          <a:prstGeom prst="rect">
            <a:avLst/>
          </a:prstGeom>
          <a:solidFill>
            <a:srgbClr val="33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868680"/>
            <a:ext cx="3566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FF9900"/>
                </a:solidFill>
              </a:rPr>
              <a:t>✂️  Fast Editing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1371600"/>
            <a:ext cx="356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FFFFFF"/>
                </a:solidFill>
              </a:rPr>
              <a:t>Rapid cuts during the fight = audience feels the fury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429000"/>
            <a:ext cx="3749039" cy="2377440"/>
          </a:xfrm>
          <a:prstGeom prst="rect">
            <a:avLst/>
          </a:prstGeom>
          <a:solidFill>
            <a:srgbClr val="33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3520440"/>
            <a:ext cx="3566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FF9900"/>
                </a:solidFill>
              </a:rPr>
              <a:t>🔊  Sound Design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4023360"/>
            <a:ext cx="356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FFFFFF"/>
                </a:solidFill>
              </a:rPr>
              <a:t>Heavy bass, metallic beats, SILENCE just before strike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51959" y="3429000"/>
            <a:ext cx="3749039" cy="2377440"/>
          </a:xfrm>
          <a:prstGeom prst="rect">
            <a:avLst/>
          </a:prstGeom>
          <a:solidFill>
            <a:srgbClr val="33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43399" y="3520440"/>
            <a:ext cx="3566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FF9900"/>
                </a:solidFill>
              </a:rPr>
              <a:t>🎭  Body Language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399" y="4023360"/>
            <a:ext cx="356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FFFFFF"/>
                </a:solidFill>
              </a:rPr>
              <a:t>Clenched jaw, stillness THEN sudden burst = most fearful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3429000"/>
            <a:ext cx="3749039" cy="2377440"/>
          </a:xfrm>
          <a:prstGeom prst="rect">
            <a:avLst/>
          </a:prstGeom>
          <a:solidFill>
            <a:srgbClr val="33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3520440"/>
            <a:ext cx="3566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FF9900"/>
                </a:solidFill>
              </a:rPr>
              <a:t>🌑  Dark Costume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4023360"/>
            <a:ext cx="356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FFFFFF"/>
                </a:solidFill>
              </a:rPr>
              <a:t>Hero often in black/red during Raudra peak scenes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B2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200" b="1" i="0">
                <a:solidFill>
                  <a:srgbClr val="FFFFFF"/>
                </a:solidFill>
              </a:rPr>
              <a:t>DHURANDHAR (2025)  — Raudra Rasa in Action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594360"/>
            <a:ext cx="11274552" cy="36576"/>
          </a:xfrm>
          <a:prstGeom prst="rect">
            <a:avLst/>
          </a:prstGeom>
          <a:solidFill>
            <a:srgbClr val="B2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713232"/>
            <a:ext cx="5029200" cy="3200400"/>
          </a:xfrm>
          <a:prstGeom prst="rect">
            <a:avLst/>
          </a:prstGeom>
          <a:solidFill>
            <a:srgbClr val="4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804672"/>
            <a:ext cx="48463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9900"/>
                </a:solidFill>
              </a:rPr>
              <a:t>📷 Dhurandhar (2025) — Official Poster / Still</a:t>
            </a:r>
          </a:p>
          <a:p>
            <a:pPr algn="ctr"/>
            <a:r>
              <a:rPr sz="900">
                <a:solidFill>
                  <a:srgbClr val="CCCCCC"/>
                </a:solidFill>
              </a:rPr>
              <a:t>Source: Netflix / official press kit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4069080"/>
            <a:ext cx="5029200" cy="2468880"/>
          </a:xfrm>
          <a:prstGeom prst="rect">
            <a:avLst/>
          </a:prstGeom>
          <a:solidFill>
            <a:srgbClr val="4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160520"/>
            <a:ext cx="4846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9900"/>
                </a:solidFill>
              </a:rPr>
              <a:t>📷 Ranveer Singh / lead actor — intense close-up still</a:t>
            </a:r>
          </a:p>
          <a:p>
            <a:pPr algn="ctr"/>
            <a:r>
              <a:rPr sz="900">
                <a:solidFill>
                  <a:srgbClr val="CCCCCC"/>
                </a:solidFill>
              </a:rPr>
              <a:t>Source: official movie stills / press release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713232"/>
            <a:ext cx="6309360" cy="5824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9900"/>
                </a:solidFill>
              </a:rPr>
              <a:t>About the film:</a:t>
            </a:r>
          </a:p>
          <a:p>
            <a:pPr>
              <a:spcBef>
                <a:spcPts val="200"/>
              </a:spcBef>
            </a:pPr>
            <a:r>
              <a:rPr sz="1300" b="0">
                <a:solidFill>
                  <a:srgbClr val="FFFFFF"/>
                </a:solidFill>
              </a:rPr>
              <a:t>Action-thriller. A man pushed to his limits seeks justice against powerful enemies.</a:t>
            </a:r>
          </a:p>
          <a:p>
            <a:pPr>
              <a:spcBef>
                <a:spcPts val="200"/>
              </a:spcBef>
            </a:pPr>
            <a:r>
              <a:rPr sz="1300" b="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200"/>
              </a:spcBef>
            </a:pPr>
            <a:r>
              <a:rPr sz="1300" b="1">
                <a:solidFill>
                  <a:srgbClr val="FF9900"/>
                </a:solidFill>
              </a:rPr>
              <a:t>Raudra Journey in the story:</a:t>
            </a:r>
          </a:p>
          <a:p>
            <a:pPr>
              <a:spcBef>
                <a:spcPts val="200"/>
              </a:spcBef>
            </a:pPr>
            <a:r>
              <a:rPr sz="1300" b="0">
                <a:solidFill>
                  <a:srgbClr val="FFFFFF"/>
                </a:solidFill>
              </a:rPr>
              <a:t>  Step 1 — Hero is humiliated / family harmed</a:t>
            </a:r>
          </a:p>
          <a:p>
            <a:pPr>
              <a:spcBef>
                <a:spcPts val="200"/>
              </a:spcBef>
            </a:pPr>
            <a:r>
              <a:rPr sz="1300" b="0">
                <a:solidFill>
                  <a:srgbClr val="FFFFFF"/>
                </a:solidFill>
              </a:rPr>
              <a:t>  Step 2 — He suppresses rage (slow burn)</a:t>
            </a:r>
          </a:p>
          <a:p>
            <a:pPr>
              <a:spcBef>
                <a:spcPts val="200"/>
              </a:spcBef>
            </a:pPr>
            <a:r>
              <a:rPr sz="1300" b="0">
                <a:solidFill>
                  <a:srgbClr val="FFFFFF"/>
                </a:solidFill>
              </a:rPr>
              <a:t>  Step 3 — A breaking point triggers explosion</a:t>
            </a:r>
          </a:p>
          <a:p>
            <a:pPr>
              <a:spcBef>
                <a:spcPts val="200"/>
              </a:spcBef>
            </a:pPr>
            <a:r>
              <a:rPr sz="1300" b="0">
                <a:solidFill>
                  <a:srgbClr val="FFFFFF"/>
                </a:solidFill>
              </a:rPr>
              <a:t>  Step 4 — He confronts enemies with full fury</a:t>
            </a:r>
          </a:p>
          <a:p>
            <a:pPr>
              <a:spcBef>
                <a:spcPts val="200"/>
              </a:spcBef>
            </a:pPr>
            <a:r>
              <a:rPr sz="1300" b="0">
                <a:solidFill>
                  <a:srgbClr val="FFFFFF"/>
                </a:solidFill>
              </a:rPr>
              <a:t>  Step 5 — Moral cost: Was the anger worth it?</a:t>
            </a:r>
          </a:p>
          <a:p>
            <a:pPr>
              <a:spcBef>
                <a:spcPts val="200"/>
              </a:spcBef>
            </a:pPr>
            <a:r>
              <a:rPr sz="1300" b="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200"/>
              </a:spcBef>
            </a:pPr>
            <a:r>
              <a:rPr sz="1300" b="1">
                <a:solidFill>
                  <a:srgbClr val="FF9900"/>
                </a:solidFill>
              </a:rPr>
              <a:t>Literary/Poetic Layer:</a:t>
            </a:r>
          </a:p>
          <a:p>
            <a:pPr>
              <a:spcBef>
                <a:spcPts val="200"/>
              </a:spcBef>
            </a:pPr>
            <a:r>
              <a:rPr sz="1300" b="0">
                <a:solidFill>
                  <a:srgbClr val="FFFFFF"/>
                </a:solidFill>
              </a:rPr>
              <a:t>  Dialogues use vow-like, oath structures</a:t>
            </a:r>
          </a:p>
          <a:p>
            <a:pPr>
              <a:spcBef>
                <a:spcPts val="200"/>
              </a:spcBef>
            </a:pPr>
            <a:r>
              <a:rPr sz="1300" b="0">
                <a:solidFill>
                  <a:srgbClr val="FFFFFF"/>
                </a:solidFill>
              </a:rPr>
              <a:t>  Repetition of 'aaj' (today) = urgency</a:t>
            </a:r>
          </a:p>
          <a:p>
            <a:pPr>
              <a:spcBef>
                <a:spcPts val="200"/>
              </a:spcBef>
            </a:pPr>
            <a:r>
              <a:rPr sz="1300" b="0">
                <a:solidFill>
                  <a:srgbClr val="FFFFFF"/>
                </a:solidFill>
              </a:rPr>
              <a:t>  Adversarial address: 'TUM ne galti ki'</a:t>
            </a:r>
          </a:p>
          <a:p>
            <a:pPr>
              <a:spcBef>
                <a:spcPts val="200"/>
              </a:spcBef>
            </a:pPr>
            <a:r>
              <a:rPr sz="1300" b="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200"/>
              </a:spcBef>
            </a:pPr>
            <a:r>
              <a:rPr sz="1300" b="1">
                <a:solidFill>
                  <a:srgbClr val="FF9900"/>
                </a:solidFill>
              </a:rPr>
              <a:t>Visual Layer:</a:t>
            </a:r>
          </a:p>
          <a:p>
            <a:pPr>
              <a:spcBef>
                <a:spcPts val="200"/>
              </a:spcBef>
            </a:pPr>
            <a:r>
              <a:rPr sz="1300" b="0">
                <a:solidFill>
                  <a:srgbClr val="FFFFFF"/>
                </a:solidFill>
              </a:rPr>
              <a:t>  High-contrast red-black frames</a:t>
            </a:r>
          </a:p>
          <a:p>
            <a:pPr>
              <a:spcBef>
                <a:spcPts val="200"/>
              </a:spcBef>
            </a:pPr>
            <a:r>
              <a:rPr sz="1300" b="0">
                <a:solidFill>
                  <a:srgbClr val="FFFFFF"/>
                </a:solidFill>
              </a:rPr>
              <a:t>  Percussion + silence pattern in BGM</a:t>
            </a:r>
          </a:p>
          <a:p>
            <a:pPr>
              <a:spcBef>
                <a:spcPts val="200"/>
              </a:spcBef>
            </a:pPr>
            <a:r>
              <a:rPr sz="1300" b="0">
                <a:solidFill>
                  <a:srgbClr val="FFFFFF"/>
                </a:solidFill>
              </a:rPr>
              <a:t>  Kinetic handheld camera in action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B2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200" b="1" i="0">
                <a:solidFill>
                  <a:srgbClr val="FFFFFF"/>
                </a:solidFill>
              </a:rPr>
              <a:t>🎬  WATCH THESE — Video Examples of Raudra Rasa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594360"/>
            <a:ext cx="11274552" cy="36576"/>
          </a:xfrm>
          <a:prstGeom prst="rect">
            <a:avLst/>
          </a:prstGeom>
          <a:solidFill>
            <a:srgbClr val="B2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749808"/>
            <a:ext cx="5669280" cy="1691640"/>
          </a:xfrm>
          <a:prstGeom prst="rect">
            <a:avLst/>
          </a:prstGeom>
          <a:solidFill>
            <a:srgbClr val="33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79" y="822959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9900"/>
                </a:solidFill>
                <a:hlinkClick r:id="rId2"/>
              </a:rPr>
              <a:t>▶  1. Dhurandhar — Official Trailer (2025)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79" y="1344168"/>
            <a:ext cx="5394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100" b="0" i="1">
                <a:solidFill>
                  <a:srgbClr val="CCCCCC"/>
                </a:solidFill>
              </a:rPr>
              <a:t>Best moment 1:20–1:50 — Ranveer's rage monologue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749808"/>
            <a:ext cx="5669280" cy="1691640"/>
          </a:xfrm>
          <a:prstGeom prst="rect">
            <a:avLst/>
          </a:prstGeom>
          <a:solidFill>
            <a:srgbClr val="33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822959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9900"/>
                </a:solidFill>
                <a:hlinkClick r:id="rId3"/>
              </a:rPr>
              <a:t>▶  2. Bajrangi Bhaijaan — Climax Confrontation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344168"/>
            <a:ext cx="5394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100" b="0" i="1">
                <a:solidFill>
                  <a:srgbClr val="CCCCCC"/>
                </a:solidFill>
              </a:rPr>
              <a:t>Salman Khan's silent fury (Raudra through stillness)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670048"/>
            <a:ext cx="5669280" cy="1691640"/>
          </a:xfrm>
          <a:prstGeom prst="rect">
            <a:avLst/>
          </a:prstGeom>
          <a:solidFill>
            <a:srgbClr val="33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79" y="2743200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9900"/>
                </a:solidFill>
                <a:hlinkClick r:id="rId4"/>
              </a:rPr>
              <a:t>▶  3. Kabir Singh — Breakdown Scene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3264408"/>
            <a:ext cx="5394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100" b="0" i="1">
                <a:solidFill>
                  <a:srgbClr val="CCCCCC"/>
                </a:solidFill>
              </a:rPr>
              <a:t>Rage driven by betrayal — negative/tragic Raudra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2670048"/>
            <a:ext cx="5669280" cy="1691640"/>
          </a:xfrm>
          <a:prstGeom prst="rect">
            <a:avLst/>
          </a:prstGeom>
          <a:solidFill>
            <a:srgbClr val="33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2743200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9900"/>
                </a:solidFill>
                <a:hlinkClick r:id="rId5"/>
              </a:rPr>
              <a:t>▶  4. Dangal — Aamir Khan Training Rage Scene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3264408"/>
            <a:ext cx="5394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100" b="0" i="1">
                <a:solidFill>
                  <a:srgbClr val="CCCCCC"/>
                </a:solidFill>
              </a:rPr>
              <a:t>Righteous Raudra — father's anger as determination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4590288"/>
            <a:ext cx="5669280" cy="1691640"/>
          </a:xfrm>
          <a:prstGeom prst="rect">
            <a:avLst/>
          </a:prstGeom>
          <a:solidFill>
            <a:srgbClr val="33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4663440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9900"/>
                </a:solidFill>
                <a:hlinkClick r:id="rId6"/>
              </a:rPr>
              <a:t>▶  5. RRR — Interval Fight Scene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79" y="5184648"/>
            <a:ext cx="5394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100" b="0" i="1">
                <a:solidFill>
                  <a:srgbClr val="CCCCCC"/>
                </a:solidFill>
              </a:rPr>
              <a:t>Epic Raudra — body, sound, colour all aligned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4590288"/>
            <a:ext cx="5669280" cy="1691640"/>
          </a:xfrm>
          <a:prstGeom prst="rect">
            <a:avLst/>
          </a:prstGeom>
          <a:solidFill>
            <a:srgbClr val="33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4663440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9900"/>
                </a:solidFill>
                <a:hlinkClick r:id="rId7"/>
              </a:rPr>
              <a:t>▶  6. Nāṭyaśāstra Lecture — Raudra Rasa Explained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5184648"/>
            <a:ext cx="5394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100" b="0" i="1">
                <a:solidFill>
                  <a:srgbClr val="CCCCCC"/>
                </a:solidFill>
              </a:rPr>
              <a:t>Academic background for the theory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9224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100" b="0" i="1">
                <a:solidFill>
                  <a:srgbClr val="AAAAAA"/>
                </a:solidFill>
              </a:rPr>
              <a:t>💡  Click links to open search results. Replace with direct video URLs once confirmed.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B2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100" b="1" i="0">
                <a:solidFill>
                  <a:srgbClr val="FFFFFF"/>
                </a:solidFill>
              </a:rPr>
              <a:t>📷  IMAGE GUIDE — Where to Find Free Images for Each Slide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594360"/>
            <a:ext cx="11274552" cy="36576"/>
          </a:xfrm>
          <a:prstGeom prst="rect">
            <a:avLst/>
          </a:prstGeom>
          <a:solidFill>
            <a:srgbClr val="B2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749808"/>
            <a:ext cx="5029200" cy="658368"/>
          </a:xfrm>
          <a:prstGeom prst="rect">
            <a:avLst/>
          </a:prstGeom>
          <a:solidFill>
            <a:srgbClr val="2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795528"/>
            <a:ext cx="4846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FF9900"/>
                </a:solidFill>
              </a:rPr>
              <a:t>Slide 1 &amp; 3 — Shiva / Rudra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40680" y="795528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FFFFFF"/>
                </a:solidFill>
              </a:rPr>
              <a:t>commons.wikimedia.org  → search 'Nataraja bronze'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527048"/>
            <a:ext cx="5029200" cy="658368"/>
          </a:xfrm>
          <a:prstGeom prst="rect">
            <a:avLst/>
          </a:prstGeom>
          <a:solidFill>
            <a:srgbClr val="2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572768"/>
            <a:ext cx="4846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FF9900"/>
                </a:solidFill>
              </a:rPr>
              <a:t>Slide 2 — Angry warrior / deity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1572768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FFFFFF"/>
                </a:solidFill>
              </a:rPr>
              <a:t>commons.wikimedia.org  → 'Mahishasura Mardini painting'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304288"/>
            <a:ext cx="5029200" cy="658368"/>
          </a:xfrm>
          <a:prstGeom prst="rect">
            <a:avLst/>
          </a:prstGeom>
          <a:solidFill>
            <a:srgbClr val="2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350008"/>
            <a:ext cx="4846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FF9900"/>
                </a:solidFill>
              </a:rPr>
              <a:t>Slide 3 — Nāṭyaśāstra manuscript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2350008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FFFFFF"/>
                </a:solidFill>
              </a:rPr>
              <a:t>commons.wikimedia.org  → 'Natyashastra palm leaf'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081527"/>
            <a:ext cx="5029200" cy="658368"/>
          </a:xfrm>
          <a:prstGeom prst="rect">
            <a:avLst/>
          </a:prstGeom>
          <a:solidFill>
            <a:srgbClr val="2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3127247"/>
            <a:ext cx="4846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FF9900"/>
                </a:solidFill>
              </a:rPr>
              <a:t>Slide 6 — Dhurandhar poster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3127247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FFFFFF"/>
                </a:solidFill>
              </a:rPr>
              <a:t>Netflix press kit OR Google Images → 'Dhurandhar 2025 poster' (fair-use academic)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858768"/>
            <a:ext cx="5029200" cy="658368"/>
          </a:xfrm>
          <a:prstGeom prst="rect">
            <a:avLst/>
          </a:prstGeom>
          <a:solidFill>
            <a:srgbClr val="2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904487"/>
            <a:ext cx="4846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FF9900"/>
                </a:solidFill>
              </a:rPr>
              <a:t>Slide 6 — Ranveer Singh still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0680" y="3904487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FFFFFF"/>
                </a:solidFill>
              </a:rPr>
              <a:t>Official movie social media / press release (credit: Netflix/Maddock Films)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4636008"/>
            <a:ext cx="5029200" cy="658368"/>
          </a:xfrm>
          <a:prstGeom prst="rect">
            <a:avLst/>
          </a:prstGeom>
          <a:solidFill>
            <a:srgbClr val="2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4681728"/>
            <a:ext cx="4846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FF9900"/>
                </a:solidFill>
              </a:rPr>
              <a:t>All slides — fire/red abstract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40680" y="4681728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FFFFFF"/>
                </a:solidFill>
              </a:rPr>
              <a:t>Unsplash.com  → search 'fire abstract red'  (free license)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413248"/>
            <a:ext cx="5029200" cy="658368"/>
          </a:xfrm>
          <a:prstGeom prst="rect">
            <a:avLst/>
          </a:prstGeom>
          <a:solidFill>
            <a:srgbClr val="2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5458968"/>
            <a:ext cx="4846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FF9900"/>
                </a:solidFill>
              </a:rPr>
              <a:t>General Raudra mood board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40680" y="5458968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FFFFFF"/>
                </a:solidFill>
              </a:rPr>
              <a:t>Pexels.com   → 'anger', 'fire', 'storm', 'red warrior'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B2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200" b="1" i="0">
                <a:solidFill>
                  <a:srgbClr val="FFFFFF"/>
                </a:solidFill>
              </a:rPr>
              <a:t>MORE BOLLYWOOD EXAMPLES OF RAUDRA RASA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594360"/>
            <a:ext cx="11274552" cy="36576"/>
          </a:xfrm>
          <a:prstGeom prst="rect">
            <a:avLst/>
          </a:prstGeom>
          <a:solidFill>
            <a:srgbClr val="B2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713232"/>
            <a:ext cx="2560320" cy="384048"/>
          </a:xfrm>
          <a:prstGeom prst="rect">
            <a:avLst/>
          </a:prstGeom>
          <a:solidFill>
            <a:srgbClr val="B2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722376"/>
            <a:ext cx="2468879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FFFFFF"/>
                </a:solidFill>
              </a:rPr>
              <a:t>Film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0" y="713232"/>
            <a:ext cx="4114800" cy="384048"/>
          </a:xfrm>
          <a:prstGeom prst="rect">
            <a:avLst/>
          </a:prstGeom>
          <a:solidFill>
            <a:srgbClr val="B2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71800" y="722376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FFFFFF"/>
                </a:solidFill>
              </a:rPr>
              <a:t>Type of Raudra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0" y="713232"/>
            <a:ext cx="5029200" cy="384048"/>
          </a:xfrm>
          <a:prstGeom prst="rect">
            <a:avLst/>
          </a:prstGeom>
          <a:solidFill>
            <a:srgbClr val="B2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78040" y="722376"/>
            <a:ext cx="49377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FFFFFF"/>
                </a:solidFill>
              </a:rPr>
              <a:t>Key Scene / Visual Note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170432"/>
            <a:ext cx="2560320" cy="777240"/>
          </a:xfrm>
          <a:prstGeom prst="rect">
            <a:avLst/>
          </a:prstGeom>
          <a:solidFill>
            <a:srgbClr val="2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" y="1216152"/>
            <a:ext cx="246887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200" b="1" i="0">
                <a:solidFill>
                  <a:srgbClr val="FF9900"/>
                </a:solidFill>
              </a:rPr>
              <a:t>Animal (2023)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80" y="1170432"/>
            <a:ext cx="4114800" cy="777240"/>
          </a:xfrm>
          <a:prstGeom prst="rect">
            <a:avLst/>
          </a:prstGeom>
          <a:solidFill>
            <a:srgbClr val="2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90088" y="1216152"/>
            <a:ext cx="4023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FFFFFF"/>
                </a:solidFill>
              </a:rPr>
              <a:t>Negative Raudra — rage without morality = tragedy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0" y="1170432"/>
            <a:ext cx="5029200" cy="777240"/>
          </a:xfrm>
          <a:prstGeom prst="rect">
            <a:avLst/>
          </a:prstGeom>
          <a:solidFill>
            <a:srgbClr val="2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96328" y="1216152"/>
            <a:ext cx="49377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FFFFFF"/>
                </a:solidFill>
              </a:rPr>
              <a:t>Ranbir's explosion scene, red color grading throughout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039112"/>
            <a:ext cx="2560320" cy="777240"/>
          </a:xfrm>
          <a:prstGeom prst="rect">
            <a:avLst/>
          </a:prstGeom>
          <a:solidFill>
            <a:srgbClr val="22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8328" y="2084831"/>
            <a:ext cx="246887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200" b="1" i="0">
                <a:solidFill>
                  <a:srgbClr val="FF9900"/>
                </a:solidFill>
              </a:rPr>
              <a:t>Jawan (2023)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26080" y="2039112"/>
            <a:ext cx="4114800" cy="777240"/>
          </a:xfrm>
          <a:prstGeom prst="rect">
            <a:avLst/>
          </a:prstGeom>
          <a:solidFill>
            <a:srgbClr val="22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90088" y="2084831"/>
            <a:ext cx="4023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FFFFFF"/>
                </a:solidFill>
              </a:rPr>
              <a:t>Righteous Raudra — anger against system corruption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32320" y="2039112"/>
            <a:ext cx="5029200" cy="777240"/>
          </a:xfrm>
          <a:prstGeom prst="rect">
            <a:avLst/>
          </a:prstGeom>
          <a:solidFill>
            <a:srgbClr val="22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96328" y="2084831"/>
            <a:ext cx="49377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FFFFFF"/>
                </a:solidFill>
              </a:rPr>
              <a:t>Shah Rukh Khan's monologue in court / hospital scene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2907791"/>
            <a:ext cx="2560320" cy="777240"/>
          </a:xfrm>
          <a:prstGeom prst="rect">
            <a:avLst/>
          </a:prstGeom>
          <a:solidFill>
            <a:srgbClr val="2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8328" y="2953511"/>
            <a:ext cx="246887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200" b="1" i="0">
                <a:solidFill>
                  <a:srgbClr val="FF9900"/>
                </a:solidFill>
              </a:rPr>
              <a:t>Pathaan (2023)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26080" y="2907791"/>
            <a:ext cx="4114800" cy="777240"/>
          </a:xfrm>
          <a:prstGeom prst="rect">
            <a:avLst/>
          </a:prstGeom>
          <a:solidFill>
            <a:srgbClr val="2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90088" y="2953511"/>
            <a:ext cx="4023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FFFFFF"/>
                </a:solidFill>
              </a:rPr>
              <a:t>Patriotic Raudra — national anger against terrorism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32320" y="2907791"/>
            <a:ext cx="5029200" cy="777240"/>
          </a:xfrm>
          <a:prstGeom prst="rect">
            <a:avLst/>
          </a:prstGeom>
          <a:solidFill>
            <a:srgbClr val="2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96328" y="2953511"/>
            <a:ext cx="49377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FFFFFF"/>
                </a:solidFill>
              </a:rPr>
              <a:t>Action sequences with kinetic fury; dark color palette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3776472"/>
            <a:ext cx="2560320" cy="777240"/>
          </a:xfrm>
          <a:prstGeom prst="rect">
            <a:avLst/>
          </a:prstGeom>
          <a:solidFill>
            <a:srgbClr val="22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8328" y="3822191"/>
            <a:ext cx="246887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200" b="1" i="0">
                <a:solidFill>
                  <a:srgbClr val="FF9900"/>
                </a:solidFill>
              </a:rPr>
              <a:t>Dhurandhar (2025)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26080" y="3776472"/>
            <a:ext cx="4114800" cy="777240"/>
          </a:xfrm>
          <a:prstGeom prst="rect">
            <a:avLst/>
          </a:prstGeom>
          <a:solidFill>
            <a:srgbClr val="22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90088" y="3822191"/>
            <a:ext cx="4023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FFFFFF"/>
                </a:solidFill>
              </a:rPr>
              <a:t>Personal + Moral Raudra — injustice becomes mission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32320" y="3776472"/>
            <a:ext cx="5029200" cy="777240"/>
          </a:xfrm>
          <a:prstGeom prst="rect">
            <a:avLst/>
          </a:prstGeom>
          <a:solidFill>
            <a:srgbClr val="22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96328" y="3822191"/>
            <a:ext cx="49377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FFFFFF"/>
                </a:solidFill>
              </a:rPr>
              <a:t>Trailer: controlled rage, explosive confrontation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4645152"/>
            <a:ext cx="2560320" cy="777240"/>
          </a:xfrm>
          <a:prstGeom prst="rect">
            <a:avLst/>
          </a:prstGeom>
          <a:solidFill>
            <a:srgbClr val="2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8328" y="4690872"/>
            <a:ext cx="246887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200" b="1" i="0">
                <a:solidFill>
                  <a:srgbClr val="FF9900"/>
                </a:solidFill>
              </a:rPr>
              <a:t>12th Fail (2023)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26080" y="4645152"/>
            <a:ext cx="4114800" cy="777240"/>
          </a:xfrm>
          <a:prstGeom prst="rect">
            <a:avLst/>
          </a:prstGeom>
          <a:solidFill>
            <a:srgbClr val="2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990088" y="4690872"/>
            <a:ext cx="4023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FFFFFF"/>
                </a:solidFill>
              </a:rPr>
              <a:t>Quiet Raudra — suppressed anger at unfair system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32320" y="4645152"/>
            <a:ext cx="5029200" cy="777240"/>
          </a:xfrm>
          <a:prstGeom prst="rect">
            <a:avLst/>
          </a:prstGeom>
          <a:solidFill>
            <a:srgbClr val="2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96328" y="4690872"/>
            <a:ext cx="49377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FFFFFF"/>
                </a:solidFill>
              </a:rPr>
              <a:t>No action, but deep emotional burn — Raudra internalized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" y="5513832"/>
            <a:ext cx="2560320" cy="777240"/>
          </a:xfrm>
          <a:prstGeom prst="rect">
            <a:avLst/>
          </a:prstGeom>
          <a:solidFill>
            <a:srgbClr val="22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38328" y="5559552"/>
            <a:ext cx="246887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200" b="1" i="0">
                <a:solidFill>
                  <a:srgbClr val="FF9900"/>
                </a:solidFill>
              </a:rPr>
              <a:t>Fighter (2024)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26080" y="5513832"/>
            <a:ext cx="4114800" cy="777240"/>
          </a:xfrm>
          <a:prstGeom prst="rect">
            <a:avLst/>
          </a:prstGeom>
          <a:solidFill>
            <a:srgbClr val="22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990088" y="5559552"/>
            <a:ext cx="4023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FFFFFF"/>
                </a:solidFill>
              </a:rPr>
              <a:t>Warrior Raudra — duty-driven fury in battle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132320" y="5513832"/>
            <a:ext cx="5029200" cy="777240"/>
          </a:xfrm>
          <a:prstGeom prst="rect">
            <a:avLst/>
          </a:prstGeom>
          <a:solidFill>
            <a:srgbClr val="22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196328" y="5559552"/>
            <a:ext cx="49377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FFFFFF"/>
                </a:solidFill>
              </a:rPr>
              <a:t>Air combat sequences; anthemic rage, red dawn imagery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B2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200" b="1" i="0">
                <a:solidFill>
                  <a:srgbClr val="FFFFFF"/>
                </a:solidFill>
              </a:rPr>
              <a:t>HOW IS RAUDRA DIFFERENT FROM OTHER RASAS?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594360"/>
            <a:ext cx="11274552" cy="36576"/>
          </a:xfrm>
          <a:prstGeom prst="rect">
            <a:avLst/>
          </a:prstGeom>
          <a:solidFill>
            <a:srgbClr val="B2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713232"/>
            <a:ext cx="2286000" cy="384048"/>
          </a:xfrm>
          <a:prstGeom prst="rect">
            <a:avLst/>
          </a:prstGeom>
          <a:solidFill>
            <a:srgbClr val="B2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722376"/>
            <a:ext cx="21945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FFFFFF"/>
                </a:solidFill>
              </a:rPr>
              <a:t>Rasa</a:t>
            </a:r>
          </a:p>
        </p:txBody>
      </p:sp>
      <p:sp>
        <p:nvSpPr>
          <p:cNvPr id="7" name="Rectangle 6"/>
          <p:cNvSpPr/>
          <p:nvPr/>
        </p:nvSpPr>
        <p:spPr>
          <a:xfrm>
            <a:off x="2651760" y="713232"/>
            <a:ext cx="2743200" cy="384048"/>
          </a:xfrm>
          <a:prstGeom prst="rect">
            <a:avLst/>
          </a:prstGeom>
          <a:solidFill>
            <a:srgbClr val="B2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97479" y="722376"/>
            <a:ext cx="26517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FFFFFF"/>
                </a:solidFill>
              </a:rPr>
              <a:t>Meaning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0" y="713232"/>
            <a:ext cx="2286000" cy="384048"/>
          </a:xfrm>
          <a:prstGeom prst="rect">
            <a:avLst/>
          </a:prstGeom>
          <a:solidFill>
            <a:srgbClr val="B2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32120" y="722376"/>
            <a:ext cx="21945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FFFFFF"/>
                </a:solidFill>
              </a:rPr>
              <a:t>Colour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63840" y="713232"/>
            <a:ext cx="4114800" cy="384048"/>
          </a:xfrm>
          <a:prstGeom prst="rect">
            <a:avLst/>
          </a:prstGeom>
          <a:solidFill>
            <a:srgbClr val="B2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722376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FFFFFF"/>
                </a:solidFill>
              </a:rPr>
              <a:t>In simple words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170432"/>
            <a:ext cx="2286000" cy="822960"/>
          </a:xfrm>
          <a:prstGeom prst="rect">
            <a:avLst/>
          </a:prstGeom>
          <a:solidFill>
            <a:srgbClr val="55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8328" y="1261872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FF9900"/>
                </a:solidFill>
              </a:rPr>
              <a:t>RAUDRA 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51760" y="1170432"/>
            <a:ext cx="2743200" cy="822960"/>
          </a:xfrm>
          <a:prstGeom prst="rect">
            <a:avLst/>
          </a:prstGeom>
          <a:solidFill>
            <a:srgbClr val="55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15768" y="1261872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FF9900"/>
                </a:solidFill>
              </a:rPr>
              <a:t>Anger / Fury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0" y="1170432"/>
            <a:ext cx="2286000" cy="822960"/>
          </a:xfrm>
          <a:prstGeom prst="rect">
            <a:avLst/>
          </a:prstGeom>
          <a:solidFill>
            <a:srgbClr val="55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0408" y="1261872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FF9900"/>
                </a:solidFill>
              </a:rPr>
              <a:t>Red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63840" y="1170432"/>
            <a:ext cx="4114800" cy="822960"/>
          </a:xfrm>
          <a:prstGeom prst="rect">
            <a:avLst/>
          </a:prstGeom>
          <a:solidFill>
            <a:srgbClr val="55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27848" y="1261872"/>
            <a:ext cx="4023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FF9900"/>
                </a:solidFill>
              </a:rPr>
              <a:t>Righteous rage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2084832"/>
            <a:ext cx="2286000" cy="822960"/>
          </a:xfrm>
          <a:prstGeom prst="rect">
            <a:avLst/>
          </a:prstGeom>
          <a:solidFill>
            <a:srgbClr val="22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8328" y="2176272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FF9900"/>
                </a:solidFill>
              </a:rPr>
              <a:t>VIRA  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651760" y="2084832"/>
            <a:ext cx="2743200" cy="822960"/>
          </a:xfrm>
          <a:prstGeom prst="rect">
            <a:avLst/>
          </a:prstGeom>
          <a:solidFill>
            <a:srgbClr val="22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15768" y="2176272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FFFFFF"/>
                </a:solidFill>
              </a:rPr>
              <a:t>Heroism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0" y="2084832"/>
            <a:ext cx="2286000" cy="822960"/>
          </a:xfrm>
          <a:prstGeom prst="rect">
            <a:avLst/>
          </a:prstGeom>
          <a:solidFill>
            <a:srgbClr val="22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50408" y="2176272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FFFFFF"/>
                </a:solidFill>
              </a:rPr>
              <a:t>Saffron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0" y="2084832"/>
            <a:ext cx="4114800" cy="822960"/>
          </a:xfrm>
          <a:prstGeom prst="rect">
            <a:avLst/>
          </a:prstGeom>
          <a:solidFill>
            <a:srgbClr val="22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27848" y="2176272"/>
            <a:ext cx="4023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FFFFFF"/>
                </a:solidFill>
              </a:rPr>
              <a:t>Courage &amp; determination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2999232"/>
            <a:ext cx="2286000" cy="822960"/>
          </a:xfrm>
          <a:prstGeom prst="rect">
            <a:avLst/>
          </a:prstGeom>
          <a:solidFill>
            <a:srgbClr val="1A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8328" y="3090672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FF9900"/>
                </a:solidFill>
              </a:rPr>
              <a:t>KARUNA 🔵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651760" y="2999232"/>
            <a:ext cx="2743200" cy="822960"/>
          </a:xfrm>
          <a:prstGeom prst="rect">
            <a:avLst/>
          </a:prstGeom>
          <a:solidFill>
            <a:srgbClr val="1A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15768" y="3090672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FFFFFF"/>
                </a:solidFill>
              </a:rPr>
              <a:t>Compassion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0" y="2999232"/>
            <a:ext cx="2286000" cy="822960"/>
          </a:xfrm>
          <a:prstGeom prst="rect">
            <a:avLst/>
          </a:prstGeom>
          <a:solidFill>
            <a:srgbClr val="1A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50408" y="3090672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FFFFFF"/>
                </a:solidFill>
              </a:rPr>
              <a:t>Blue/Grey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63840" y="2999232"/>
            <a:ext cx="4114800" cy="822960"/>
          </a:xfrm>
          <a:prstGeom prst="rect">
            <a:avLst/>
          </a:prstGeom>
          <a:solidFill>
            <a:srgbClr val="1A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27848" y="3090672"/>
            <a:ext cx="4023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FFFFFF"/>
                </a:solidFill>
              </a:rPr>
              <a:t>Sadness for others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3913632"/>
            <a:ext cx="2286000" cy="822960"/>
          </a:xfrm>
          <a:prstGeom prst="rect">
            <a:avLst/>
          </a:prstGeom>
          <a:solidFill>
            <a:srgbClr val="22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8328" y="4005072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FF9900"/>
                </a:solidFill>
              </a:rPr>
              <a:t>BIBHATSA 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651760" y="3913632"/>
            <a:ext cx="2743200" cy="822960"/>
          </a:xfrm>
          <a:prstGeom prst="rect">
            <a:avLst/>
          </a:prstGeom>
          <a:solidFill>
            <a:srgbClr val="22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715768" y="4005072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FFFFFF"/>
                </a:solidFill>
              </a:rPr>
              <a:t>Disgust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0" y="3913632"/>
            <a:ext cx="2286000" cy="822960"/>
          </a:xfrm>
          <a:prstGeom prst="rect">
            <a:avLst/>
          </a:prstGeom>
          <a:solidFill>
            <a:srgbClr val="22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550408" y="4005072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FFFFFF"/>
                </a:solidFill>
              </a:rPr>
              <a:t>Blue-Black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863840" y="3913632"/>
            <a:ext cx="4114800" cy="822960"/>
          </a:xfrm>
          <a:prstGeom prst="rect">
            <a:avLst/>
          </a:prstGeom>
          <a:solidFill>
            <a:srgbClr val="22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927848" y="4005072"/>
            <a:ext cx="4023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FFFFFF"/>
                </a:solidFill>
              </a:rPr>
              <a:t>Cruel, senseless violence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4828032"/>
            <a:ext cx="2286000" cy="822960"/>
          </a:xfrm>
          <a:prstGeom prst="rect">
            <a:avLst/>
          </a:prstGeom>
          <a:solidFill>
            <a:srgbClr val="1A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8328" y="4919472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FF9900"/>
                </a:solidFill>
              </a:rPr>
              <a:t>BHAYANAKA 🟣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651760" y="4828032"/>
            <a:ext cx="2743200" cy="822960"/>
          </a:xfrm>
          <a:prstGeom prst="rect">
            <a:avLst/>
          </a:prstGeom>
          <a:solidFill>
            <a:srgbClr val="1A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15768" y="4919472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FFFFFF"/>
                </a:solidFill>
              </a:rPr>
              <a:t>Fear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0" y="4828032"/>
            <a:ext cx="2286000" cy="822960"/>
          </a:xfrm>
          <a:prstGeom prst="rect">
            <a:avLst/>
          </a:prstGeom>
          <a:solidFill>
            <a:srgbClr val="1A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550408" y="4919472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FFFFFF"/>
                </a:solidFill>
              </a:rPr>
              <a:t>Black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63840" y="4828032"/>
            <a:ext cx="4114800" cy="822960"/>
          </a:xfrm>
          <a:prstGeom prst="rect">
            <a:avLst/>
          </a:prstGeom>
          <a:solidFill>
            <a:srgbClr val="1A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927848" y="4919472"/>
            <a:ext cx="4023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FFFFFF"/>
                </a:solidFill>
              </a:rPr>
              <a:t>Dread and terror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4320" y="5989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300" b="0" i="1">
                <a:solidFill>
                  <a:srgbClr val="FF9900"/>
                </a:solidFill>
              </a:rPr>
              <a:t>💡  Key Insight:  Raudra becomes Vira when channelled into heroic action.
Raudra becomes Bibhatsa when anger turns cruel with no moral purpose.</a:t>
            </a:r>
            <a:br/>
            <a:r>
              <a:t>Raudra becomes Bibhatsa when anger turns cruel with no moral purpose.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B2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600" b="1" i="0">
                <a:solidFill>
                  <a:srgbClr val="FFFFFF"/>
                </a:solidFill>
              </a:rPr>
              <a:t>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594360"/>
            <a:ext cx="11274552" cy="36576"/>
          </a:xfrm>
          <a:prstGeom prst="rect">
            <a:avLst/>
          </a:prstGeom>
          <a:solidFill>
            <a:srgbClr val="B2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731520"/>
            <a:ext cx="4572000" cy="5394960"/>
          </a:xfrm>
          <a:prstGeom prst="rect">
            <a:avLst/>
          </a:prstGeom>
          <a:solidFill>
            <a:srgbClr val="4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822960"/>
            <a:ext cx="43891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9900"/>
                </a:solidFill>
              </a:rPr>
              <a:t>📷 Shiva in Tandava / warrior in triumph pose</a:t>
            </a:r>
          </a:p>
          <a:p>
            <a:pPr algn="ctr"/>
            <a:r>
              <a:rPr sz="900">
                <a:solidFill>
                  <a:srgbClr val="CCCCCC"/>
                </a:solidFill>
              </a:rPr>
              <a:t>Wikimedia Commons: 'Shiva Tandava' sculpture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822960"/>
            <a:ext cx="67665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FFFFFF"/>
                </a:solidFill>
              </a:rPr>
              <a:t>Raudra Rasa is one of the most powerful emotions in Indian art.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FF9900"/>
                </a:solidFill>
              </a:rPr>
              <a:t>✅  It is not simply violence — it is ANGER WITH A PURPOSE.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FF9900"/>
                </a:solidFill>
              </a:rPr>
              <a:t>✅  In classical texts, Raudra was shown through fierce deities,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FFFFFF"/>
                </a:solidFill>
              </a:rPr>
              <a:t>     warriors, and righteous heroes.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FF9900"/>
                </a:solidFill>
              </a:rPr>
              <a:t>✅  In modern Bollywood (Dhurandhar, Animal, Jawan, RRR),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FFFFFF"/>
                </a:solidFill>
              </a:rPr>
              <a:t>     filmmakers use the same formula: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FFFFFF"/>
                </a:solidFill>
              </a:rPr>
              <a:t>     Injustice → Suppressed Rage → Explosion → Consequence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FF9900"/>
                </a:solidFill>
              </a:rPr>
              <a:t>✅  The best films ask: Was the anger worth it?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FFFFFF"/>
                </a:solidFill>
              </a:rPr>
              <a:t>     That moral question is what makes Raudra ART.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FF9900"/>
                </a:solidFill>
              </a:rPr>
              <a:t>🔴  Remember: Raudra = Red + Rudra + Rage + Righteousness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B2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B2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332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5600" b="1" i="0">
                <a:solidFill>
                  <a:srgbClr val="B20000"/>
                </a:solidFill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10332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2400" b="0" i="1">
                <a:solidFill>
                  <a:srgbClr val="FF9900"/>
                </a:solidFill>
              </a:rPr>
              <a:t>Raudra Rasa — The Beautiful Fury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84048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1400" b="1" i="0">
                <a:solidFill>
                  <a:srgbClr val="FF9900"/>
                </a:solidFill>
              </a:rPr>
              <a:t>References:</a:t>
            </a:r>
          </a:p>
          <a:p>
            <a:pPr algn="ctr">
              <a:spcBef>
                <a:spcPts val="0"/>
              </a:spcBef>
            </a:pPr>
            <a:r>
              <a:rPr sz="1200" b="0" i="0">
                <a:solidFill>
                  <a:srgbClr val="FFFFFF"/>
                </a:solidFill>
              </a:rPr>
              <a:t>Bharata Muni — Nāṭyaśāstra  |  Abhinavagupta — Abhinavabhāratī</a:t>
            </a:r>
          </a:p>
          <a:p>
            <a:pPr algn="ctr">
              <a:spcBef>
                <a:spcPts val="0"/>
              </a:spcBef>
            </a:pPr>
            <a:r>
              <a:rPr sz="1200" b="0" i="0">
                <a:solidFill>
                  <a:srgbClr val="FFFFFF"/>
                </a:solidFill>
              </a:rPr>
              <a:t>Films: Dhurandhar (2025), Animal (2023), Jawan (2023), RRR (2022), Dangal (2016)</a:t>
            </a:r>
          </a:p>
          <a:p>
            <a:pPr algn="ctr">
              <a:spcBef>
                <a:spcPts val="0"/>
              </a:spcBef>
            </a:pPr>
            <a:r>
              <a:rPr sz="1200" b="0" i="0">
                <a:solidFill>
                  <a:srgbClr val="FFFFFF"/>
                </a:solidFill>
              </a:rPr>
              <a:t>Images: Wikimedia Commons, Unsplash, Pexels (free use)  |  Video: YouTube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B2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</a:rPr>
              <a:t>📜  POETIC EXAMPLES OF RAUDRA RASA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576072"/>
            <a:ext cx="11274552" cy="36576"/>
          </a:xfrm>
          <a:prstGeom prst="rect">
            <a:avLst/>
          </a:prstGeom>
          <a:solidFill>
            <a:srgbClr val="B2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12648"/>
            <a:ext cx="11430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CCCCCC"/>
                </a:solidFill>
              </a:rPr>
              <a:t>Classical Sanskrit / Hindi poems where Raudra Rasa is at its peak  (original + simple English meaning)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1005840"/>
            <a:ext cx="5715000" cy="1920240"/>
          </a:xfrm>
          <a:prstGeom prst="rect">
            <a:avLst/>
          </a:prstGeom>
          <a:solidFill>
            <a:srgbClr val="2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005840"/>
            <a:ext cx="54864" cy="1920240"/>
          </a:xfrm>
          <a:prstGeom prst="rect">
            <a:avLst/>
          </a:prstGeom>
          <a:solidFill>
            <a:srgbClr val="B2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60704"/>
            <a:ext cx="5532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1">
                <a:solidFill>
                  <a:srgbClr val="FF9900"/>
                </a:solidFill>
              </a:rPr>
              <a:t>Mahabharata — Karna's Vow  (Sanskrit)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316736"/>
            <a:ext cx="27432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FFE080"/>
                </a:solidFill>
              </a:rPr>
              <a:t>"अर्जुन, युद्ध में मैं तुझे देखूँगा,
 और वह दिन तेरे लिए अंतिम होगा।"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316736"/>
            <a:ext cx="200025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DDDDD"/>
                </a:solidFill>
              </a:rPr>
              <a:t>"Arjuna, on the battlefield I will face you,
 and that day shall be your last."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43500" y="1316736"/>
            <a:ext cx="75438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BBBB"/>
                </a:solidFill>
              </a:rPr>
              <a:t>Short, direct, no decoration.
Vow-structure = classic Raudra speech.
Certainty of anger, not a question.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005840"/>
            <a:ext cx="5715000" cy="1920240"/>
          </a:xfrm>
          <a:prstGeom prst="rect">
            <a:avLst/>
          </a:prstGeom>
          <a:solidFill>
            <a:srgbClr val="380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005840"/>
            <a:ext cx="54864" cy="1920240"/>
          </a:xfrm>
          <a:prstGeom prst="rect">
            <a:avLst/>
          </a:prstGeom>
          <a:solidFill>
            <a:srgbClr val="B2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1060704"/>
            <a:ext cx="5532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1">
                <a:solidFill>
                  <a:srgbClr val="FF9900"/>
                </a:solidFill>
              </a:rPr>
              <a:t>Tulsidas — Ramcharitmanas (Hindi Awadhi)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1316736"/>
            <a:ext cx="27432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FFE080"/>
                </a:solidFill>
              </a:rPr>
              <a:t>"क्रोध अगिनि सब जग जारे,
 राम भजन बिनु कहा निस्तारे।"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6840" y="1316736"/>
            <a:ext cx="200025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DDDDD"/>
                </a:solidFill>
              </a:rPr>
              <a:t>"The fire of anger burns the whole world —
 without devotion to Ram, there is no escape."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41380" y="1316736"/>
            <a:ext cx="75438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BBBB"/>
                </a:solidFill>
              </a:rPr>
              <a:t>Fire metaphor = Raudra's symbol.
Anger shown as destructive, universal.
Moral warning embedded in Raudra.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" y="2999232"/>
            <a:ext cx="5715000" cy="1920240"/>
          </a:xfrm>
          <a:prstGeom prst="rect">
            <a:avLst/>
          </a:prstGeom>
          <a:solidFill>
            <a:srgbClr val="2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28600" y="2999232"/>
            <a:ext cx="54864" cy="1920240"/>
          </a:xfrm>
          <a:prstGeom prst="rect">
            <a:avLst/>
          </a:prstGeom>
          <a:solidFill>
            <a:srgbClr val="B2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3054096"/>
            <a:ext cx="5532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1">
                <a:solidFill>
                  <a:srgbClr val="FF9900"/>
                </a:solidFill>
              </a:rPr>
              <a:t>Harivansh Rai Bachchan — Madhushala (Hindi)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310127"/>
            <a:ext cx="27432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FFE080"/>
                </a:solidFill>
              </a:rPr>
              <a:t>"जो हाला मैंने माँगी थी,
 वह किसी और को दे दी —
 यह अन्याय मेरी रग-रग में
 आग बन कर जल उठी।"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3310127"/>
            <a:ext cx="200025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DDDDD"/>
                </a:solidFill>
              </a:rPr>
              <a:t>"The wine I had asked for
 was given to someone else —
 this injustice set every vein in me
 ablaze with fire."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43500" y="3310127"/>
            <a:ext cx="75438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BBBB"/>
                </a:solidFill>
              </a:rPr>
              <a:t>Betrayal → anger = classic Raudra trigger.
'Rag-rag mein aag' = body-level rage.
Internal Raudra, not physical violence.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26480" y="2999232"/>
            <a:ext cx="5715000" cy="1920240"/>
          </a:xfrm>
          <a:prstGeom prst="rect">
            <a:avLst/>
          </a:prstGeom>
          <a:solidFill>
            <a:srgbClr val="380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6480" y="2999232"/>
            <a:ext cx="54864" cy="1920240"/>
          </a:xfrm>
          <a:prstGeom prst="rect">
            <a:avLst/>
          </a:prstGeom>
          <a:solidFill>
            <a:srgbClr val="B2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63640" y="3054096"/>
            <a:ext cx="5532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1">
                <a:solidFill>
                  <a:srgbClr val="FF9900"/>
                </a:solidFill>
              </a:rPr>
              <a:t>Ramdhari Singh Dinkar — Rashmirathi (Hindi Epic)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3310127"/>
            <a:ext cx="27432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FFE080"/>
                </a:solidFill>
              </a:rPr>
              <a:t>"जला अस्थियाँ बारे नभ में
 चिनगारियाँ उड़ाता हूँ,
 पाँचों महाभूतों में भी
 अपना हुंकार सुनाता हूँ।"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6840" y="3310127"/>
            <a:ext cx="200025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DDDDD"/>
                </a:solidFill>
              </a:rPr>
              <a:t>"I burn bones and scatter sparks across the sky,
 My roar echoes through all five elements."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41380" y="3310127"/>
            <a:ext cx="75438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BBBB"/>
                </a:solidFill>
              </a:rPr>
              <a:t>Rashmirathi = greatest modern Hindi Raudra poetry.
Karna's fury against fate and injustice.
Cosmic scale of anger — Raudra at its peak.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8600" y="4992624"/>
            <a:ext cx="5715000" cy="1920240"/>
          </a:xfrm>
          <a:prstGeom prst="rect">
            <a:avLst/>
          </a:prstGeom>
          <a:solidFill>
            <a:srgbClr val="2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4992624"/>
            <a:ext cx="54864" cy="1920240"/>
          </a:xfrm>
          <a:prstGeom prst="rect">
            <a:avLst/>
          </a:prstGeom>
          <a:solidFill>
            <a:srgbClr val="B2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5047488"/>
            <a:ext cx="5532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1">
                <a:solidFill>
                  <a:srgbClr val="FF9900"/>
                </a:solidFill>
              </a:rPr>
              <a:t>Mirabai — Defiant Verse  (Rajasthani Hindi)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5303520"/>
            <a:ext cx="27432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FFE080"/>
                </a:solidFill>
              </a:rPr>
              <a:t>"राणा मैंने राम रतन धन पायो,
 तेरी दुनिया से मुझे क्या लेना,
 जो दे सकता है वो दे दे —
 मेरा क्रोध अब तुझसे नहीं डरता।"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08960" y="5303520"/>
            <a:ext cx="200025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DDDDD"/>
                </a:solidFill>
              </a:rPr>
              <a:t>"King, I have found the jewel of Ram.
 I want nothing from your world.
 Do what you will —
 my anger no longer fears you."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43500" y="5303520"/>
            <a:ext cx="75438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BBBB"/>
                </a:solidFill>
              </a:rPr>
              <a:t>Righteous Raudra: fearless defiance against injustice.
Quiet but absolute — anger through spiritual conviction.
Shows Raudra can be calm, not just explosive.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26480" y="4992624"/>
            <a:ext cx="5715000" cy="1920240"/>
          </a:xfrm>
          <a:prstGeom prst="rect">
            <a:avLst/>
          </a:prstGeom>
          <a:solidFill>
            <a:srgbClr val="380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26480" y="4992624"/>
            <a:ext cx="54864" cy="1920240"/>
          </a:xfrm>
          <a:prstGeom prst="rect">
            <a:avLst/>
          </a:prstGeom>
          <a:solidFill>
            <a:srgbClr val="B2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63640" y="5047488"/>
            <a:ext cx="5532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1">
                <a:solidFill>
                  <a:srgbClr val="FF9900"/>
                </a:solidFill>
              </a:rPr>
              <a:t>Kabir Das — Doha  (15th century Hindi)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63640" y="5303520"/>
            <a:ext cx="27432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FFE080"/>
                </a:solidFill>
              </a:rPr>
              <a:t>"क्रोध को काटे ज्ञान की तलवार,
 पर जो उठे अधर्म के विरुद्ध —
 वह क्रोध धर्म की पुकार।"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06840" y="5303520"/>
            <a:ext cx="200025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DDDDD"/>
                </a:solidFill>
              </a:rPr>
              <a:t>"Knowledge cuts anger like a sword,
 But anger that rises against injustice —
 that anger is the call of righteousness."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41380" y="5303520"/>
            <a:ext cx="75438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BBBB"/>
                </a:solidFill>
              </a:rPr>
              <a:t>Kabir distinguishes normal anger from Raudra.
Confirms the core idea: Raudra = moral fury.
Perfect quote to open or close a presentation.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